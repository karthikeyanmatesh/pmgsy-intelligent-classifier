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10" r:id="rId14"/>
    <p:sldId id="302" r:id="rId15"/>
    <p:sldId id="303" r:id="rId16"/>
    <p:sldId id="304" r:id="rId17"/>
    <p:sldId id="305" r:id="rId18"/>
    <p:sldId id="306" r:id="rId19"/>
    <p:sldId id="307" r:id="rId20"/>
    <p:sldId id="311" r:id="rId21"/>
    <p:sldId id="312" r:id="rId22"/>
    <p:sldId id="308" r:id="rId23"/>
    <p:sldId id="309"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441164613"/>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Karthikeyan 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karthikeyamadhesh4@gmail.com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8122056360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Rural Development / Infrastructure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I</a:t>
            </a:r>
            <a:r>
              <a:rPr lang="en-US" sz="2400" dirty="0"/>
              <a:t>ntelligent Classification of Rural Infrastructure Projects</a:t>
            </a:r>
            <a:endParaRPr lang="en-IN" sz="2400" b="1" dirty="0">
              <a:highlight>
                <a:srgbClr val="FFFF00"/>
              </a:highlight>
            </a:endParaRPr>
          </a:p>
        </p:txBody>
      </p:sp>
      <p:pic>
        <p:nvPicPr>
          <p:cNvPr id="5" name="Picture 4">
            <a:extLst>
              <a:ext uri="{FF2B5EF4-FFF2-40B4-BE49-F238E27FC236}">
                <a16:creationId xmlns:a16="http://schemas.microsoft.com/office/drawing/2014/main" id="{08A35500-07C7-01A0-E62F-03EAE94FF101}"/>
              </a:ext>
            </a:extLst>
          </p:cNvPr>
          <p:cNvPicPr>
            <a:picLocks noChangeAspect="1"/>
          </p:cNvPicPr>
          <p:nvPr/>
        </p:nvPicPr>
        <p:blipFill>
          <a:blip r:embed="rId3"/>
          <a:stretch>
            <a:fillRect/>
          </a:stretch>
        </p:blipFill>
        <p:spPr>
          <a:xfrm>
            <a:off x="4103443" y="3661157"/>
            <a:ext cx="671866" cy="863828"/>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6124754"/>
          </a:xfrm>
          <a:prstGeom prst="rect">
            <a:avLst/>
          </a:prstGeom>
          <a:noFill/>
        </p:spPr>
        <p:txBody>
          <a:bodyPr wrap="square" rtlCol="0">
            <a:spAutoFit/>
          </a:bodyPr>
          <a:lstStyle/>
          <a:p>
            <a:pPr fontAlgn="base"/>
            <a:r>
              <a:rPr lang="en-US" b="1" dirty="0"/>
              <a:t>Problem statement - Intelligent Classification of Rural Infrastructure Projects </a:t>
            </a:r>
          </a:p>
          <a:p>
            <a:pPr fontAlgn="base"/>
            <a:endParaRPr lang="en-US" b="1" dirty="0"/>
          </a:p>
          <a:p>
            <a:pPr fontAlgn="base"/>
            <a:r>
              <a:rPr lang="en-US" b="1" dirty="0"/>
              <a:t>The Challenge</a:t>
            </a:r>
            <a:r>
              <a:rPr lang="en-US" dirty="0"/>
              <a:t> </a:t>
            </a:r>
          </a:p>
          <a:p>
            <a:pPr algn="just" fontAlgn="base"/>
            <a:r>
              <a:rPr lang="en-US" dirty="0"/>
              <a:t>The Pradhan Mantri Gram Sadak Yojana (PMGSY) is a flagship rural development program in India, initiated to provide all-weather road connectivity to eligible unconnected habitations. Over the years, the program has evolved through different phases or schemes (PMGSY-I, PMGSY-II, RCPLWEA, etc.), each with potentially distinct objectives, funding mechanisms, and project specifications. For government bodies, infrastructure planners, and policy analysts, efficiently categorizing thousands of ongoing and completed projects is crucial for effective monitoring, transparent budget allocation, and assessing the long-term impact of these schemes. Manual classification is time-consuming, prone to errors, and scales poorly. Your specific task is to design, build, and evaluate a machine learning model that can automatically classify a road or bridge construction project into its correct PMGSY_SCHEME based on its physical and financial characteristics.</a:t>
            </a:r>
          </a:p>
          <a:p>
            <a:pPr algn="just" fontAlgn="base"/>
            <a:endParaRPr lang="en-US" dirty="0"/>
          </a:p>
          <a:p>
            <a:pPr fontAlgn="base"/>
            <a:r>
              <a:rPr lang="en-US" b="1" dirty="0"/>
              <a:t>The Objective</a:t>
            </a:r>
            <a:r>
              <a:rPr lang="en-US" dirty="0"/>
              <a:t> </a:t>
            </a:r>
          </a:p>
          <a:p>
            <a:r>
              <a:rPr lang="en-US" dirty="0"/>
              <a:t>Build an </a:t>
            </a:r>
            <a:r>
              <a:rPr lang="en-US" b="1" dirty="0"/>
              <a:t>AI-powered Intelligent Classification System</a:t>
            </a:r>
            <a:r>
              <a:rPr lang="en-US" dirty="0"/>
              <a:t> that automatically classifies rural road and bridge infrastructure projects into the correct </a:t>
            </a:r>
            <a:r>
              <a:rPr lang="en-US" b="1" dirty="0"/>
              <a:t>PMGSY scheme</a:t>
            </a:r>
            <a:r>
              <a:rPr lang="en-US" dirty="0"/>
              <a:t> based on their physical and financial characteristics.</a:t>
            </a:r>
          </a:p>
          <a:p>
            <a:r>
              <a:rPr lang="en-US" dirty="0"/>
              <a:t>The solution should:</a:t>
            </a:r>
          </a:p>
          <a:p>
            <a:pPr marL="285750" indent="-285750">
              <a:buFont typeface="Arial" panose="020B0604020202020204" pitchFamily="34" charset="0"/>
              <a:buChar char="•"/>
            </a:pPr>
            <a:r>
              <a:rPr lang="en-US" b="1" dirty="0"/>
              <a:t>Automated Scheme Classification</a:t>
            </a:r>
            <a:r>
              <a:rPr lang="en-US" dirty="0"/>
              <a:t> – Predict the appropriate PMGSY scheme such as PMGSY-I, PMGSY-II, PMGSY-III, RCPLWEA, or PM-JANMAN. </a:t>
            </a:r>
          </a:p>
          <a:p>
            <a:pPr marL="285750" indent="-285750">
              <a:buFont typeface="Arial" panose="020B0604020202020204" pitchFamily="34" charset="0"/>
              <a:buChar char="•"/>
            </a:pPr>
            <a:r>
              <a:rPr lang="en-US" b="1" dirty="0"/>
              <a:t>ML-Based Prediction</a:t>
            </a:r>
            <a:r>
              <a:rPr lang="en-US" dirty="0"/>
              <a:t> – Analyze project characteristics such as road works, road length, bridges, sanctioned cost, expenditure, completed works, and balance works. </a:t>
            </a:r>
          </a:p>
          <a:p>
            <a:pPr marL="285750" indent="-285750">
              <a:buFont typeface="Arial" panose="020B0604020202020204" pitchFamily="34" charset="0"/>
              <a:buChar char="•"/>
            </a:pPr>
            <a:r>
              <a:rPr lang="en-US" b="1" dirty="0"/>
              <a:t>Accurate &amp; Scalable Classification</a:t>
            </a:r>
            <a:r>
              <a:rPr lang="en-US" dirty="0"/>
              <a:t> – Reduce manual classification effort and improve consistency when handling large numbers of projects. </a:t>
            </a:r>
          </a:p>
          <a:p>
            <a:pPr marL="285750" indent="-285750">
              <a:buFont typeface="Arial" panose="020B0604020202020204" pitchFamily="34" charset="0"/>
              <a:buChar char="•"/>
            </a:pPr>
            <a:r>
              <a:rPr lang="en-US" b="1" dirty="0"/>
              <a:t>AI-Powered Explanation</a:t>
            </a:r>
            <a:r>
              <a:rPr lang="en-US" dirty="0"/>
              <a:t> – Use </a:t>
            </a:r>
            <a:r>
              <a:rPr lang="en-US" b="1" dirty="0"/>
              <a:t>IBM Granite</a:t>
            </a:r>
            <a:r>
              <a:rPr lang="en-US" dirty="0"/>
              <a:t> to provide a clear, natural-language explanation of the predicted PMGSY scheme. </a:t>
            </a:r>
          </a:p>
          <a:p>
            <a:pPr marL="285750" indent="-285750">
              <a:buFont typeface="Arial" panose="020B0604020202020204" pitchFamily="34" charset="0"/>
              <a:buChar char="•"/>
            </a:pPr>
            <a:r>
              <a:rPr lang="en-US" b="1" dirty="0"/>
              <a:t>Interactive Dashboard</a:t>
            </a:r>
            <a:r>
              <a:rPr lang="en-US" dirty="0"/>
              <a:t> – Provide a user-friendly interface to enter project details and view the predicted scheme, confidence, probabilities, and model insights.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693866"/>
          </a:xfrm>
          <a:prstGeom prst="rect">
            <a:avLst/>
          </a:prstGeom>
          <a:noFill/>
        </p:spPr>
        <p:txBody>
          <a:bodyPr wrap="square" rtlCol="0">
            <a:spAutoFit/>
          </a:bodyPr>
          <a:lstStyle/>
          <a:p>
            <a:r>
              <a:rPr lang="en-US" b="1" dirty="0"/>
              <a:t>Proposed Solution: AI-Powered PMGSY Classification System</a:t>
            </a:r>
          </a:p>
          <a:p>
            <a:endParaRPr lang="en-US" b="1" dirty="0"/>
          </a:p>
          <a:p>
            <a:pPr algn="just"/>
            <a:r>
              <a:rPr lang="en-US" dirty="0"/>
              <a:t>The proposed solution is an </a:t>
            </a:r>
            <a:r>
              <a:rPr lang="en-US" b="1" dirty="0"/>
              <a:t>AI-powered Intelligent Classification System</a:t>
            </a:r>
            <a:r>
              <a:rPr lang="en-US" dirty="0"/>
              <a:t> built using </a:t>
            </a:r>
            <a:r>
              <a:rPr lang="en-US" b="1" dirty="0"/>
              <a:t>IBM Bob, IBM watsonx.ai, and Granite Models</a:t>
            </a:r>
            <a:r>
              <a:rPr lang="en-US" dirty="0"/>
              <a:t> to automatically classify rural road and bridge infrastructure projects into the appropriate </a:t>
            </a:r>
            <a:r>
              <a:rPr lang="en-US" b="1" dirty="0"/>
              <a:t>PMGSY scheme</a:t>
            </a:r>
            <a:r>
              <a:rPr lang="en-US" dirty="0"/>
              <a:t>. The system addresses the challenges of manual project classification through an intelligent, scalable, and data-driven approach.</a:t>
            </a:r>
          </a:p>
          <a:p>
            <a:pPr algn="just"/>
            <a:r>
              <a:rPr lang="en-US" dirty="0"/>
              <a:t>At its core, the solution uses a </a:t>
            </a:r>
            <a:r>
              <a:rPr lang="en-US" b="1" dirty="0"/>
              <a:t>machine learning classification pipeline</a:t>
            </a:r>
            <a:r>
              <a:rPr lang="en-US" dirty="0"/>
              <a:t> to analyze physical and financial characteristics of PMGSY projects. Project attributes such as the number of road works, road length, bridges, sanctioned cost, expenditure, completed works, and balance works are processed and provided to a trained classification model to predict the appropriate scheme.</a:t>
            </a:r>
          </a:p>
          <a:p>
            <a:pPr algn="just"/>
            <a:r>
              <a:rPr lang="en-US" dirty="0"/>
              <a:t>The system uses a </a:t>
            </a:r>
            <a:r>
              <a:rPr lang="en-US" b="1" dirty="0"/>
              <a:t>Random Forest classification model</a:t>
            </a:r>
            <a:r>
              <a:rPr lang="en-US" dirty="0"/>
              <a:t> trained on the PMGSY dataset to identify patterns in historical project data and classify projects into schemes such as </a:t>
            </a:r>
            <a:r>
              <a:rPr lang="en-US" b="1" dirty="0"/>
              <a:t>PMGSY-I, PMGSY-II, PMGSY-III, RCPLWEA, and PM-JANMAN</a:t>
            </a:r>
            <a:r>
              <a:rPr lang="en-US" dirty="0"/>
              <a:t>.</a:t>
            </a:r>
          </a:p>
          <a:p>
            <a:endParaRPr lang="en-US" dirty="0"/>
          </a:p>
          <a:p>
            <a:pPr algn="just"/>
            <a:r>
              <a:rPr lang="en-US" dirty="0"/>
              <a:t>The solution consists of three key components:</a:t>
            </a:r>
          </a:p>
          <a:p>
            <a:pPr algn="just"/>
            <a:endParaRPr lang="en-US" dirty="0"/>
          </a:p>
          <a:p>
            <a:pPr marL="285750" indent="-285750" algn="just">
              <a:buFont typeface="Arial" panose="020B0604020202020204" pitchFamily="34" charset="0"/>
              <a:buChar char="•"/>
            </a:pPr>
            <a:r>
              <a:rPr lang="en-US" b="1" dirty="0"/>
              <a:t>ML Classification Module</a:t>
            </a:r>
            <a:r>
              <a:rPr lang="en-US" dirty="0"/>
              <a:t> predicts the appropriate PMGSY scheme based on project characteristics. </a:t>
            </a:r>
          </a:p>
          <a:p>
            <a:pPr marL="285750" indent="-285750" algn="just">
              <a:buFont typeface="Arial" panose="020B0604020202020204" pitchFamily="34" charset="0"/>
              <a:buChar char="•"/>
            </a:pPr>
            <a:r>
              <a:rPr lang="en-US" b="1" dirty="0"/>
              <a:t>IBM Granite AI Module</a:t>
            </a:r>
            <a:r>
              <a:rPr lang="en-US" dirty="0"/>
              <a:t> generates a clear, natural-language explanation of the model's prediction and provides context about the selected scheme. </a:t>
            </a:r>
          </a:p>
          <a:p>
            <a:pPr marL="285750" indent="-285750" algn="just">
              <a:buFont typeface="Arial" panose="020B0604020202020204" pitchFamily="34" charset="0"/>
              <a:buChar char="•"/>
            </a:pPr>
            <a:r>
              <a:rPr lang="en-US" b="1" dirty="0"/>
              <a:t>Interactive Web Application</a:t>
            </a:r>
            <a:r>
              <a:rPr lang="en-US" dirty="0"/>
              <a:t> allows users to enter project details and view the predicted scheme, confidence/probability, model performance, and AI-generated explanation. </a:t>
            </a:r>
          </a:p>
          <a:p>
            <a:pPr marL="285750" indent="-285750" algn="just">
              <a:buFont typeface="Arial" panose="020B0604020202020204" pitchFamily="34" charset="0"/>
              <a:buChar char="•"/>
            </a:pPr>
            <a:r>
              <a:rPr lang="en-US" b="1" dirty="0"/>
              <a:t>IBM Bob</a:t>
            </a:r>
            <a:r>
              <a:rPr lang="en-US" dirty="0"/>
              <a:t> is used to develop the frontend, backend, machine learning pipeline, and application workflow, while </a:t>
            </a:r>
            <a:r>
              <a:rPr lang="en-US" b="1" dirty="0"/>
              <a:t>watsonx.ai</a:t>
            </a:r>
            <a:r>
              <a:rPr lang="en-US" dirty="0"/>
              <a:t> provides the environment for integrating IBM Granite models. </a:t>
            </a:r>
            <a:r>
              <a:rPr lang="en-US" b="1" dirty="0"/>
              <a:t>Granite models</a:t>
            </a:r>
            <a:r>
              <a:rPr lang="en-US" dirty="0"/>
              <a:t> power the AI-based explanation of classification results.</a:t>
            </a:r>
          </a:p>
          <a:p>
            <a:pPr algn="just"/>
            <a:endParaRPr lang="en-US" dirty="0"/>
          </a:p>
          <a:p>
            <a:pPr algn="just"/>
            <a:r>
              <a:rPr lang="en-US" dirty="0"/>
              <a:t>Overall, this solution delivers an </a:t>
            </a:r>
            <a:r>
              <a:rPr lang="en-US" b="1" dirty="0"/>
              <a:t>end-to-end intelligent PMGSY classification system</a:t>
            </a:r>
            <a:r>
              <a:rPr lang="en-US" dirty="0"/>
              <a:t> that reduces manual effort, improves consistency in scheme classification, and provides transparent AI-assisted insights for rural infrastructure project monitoring and planning.</a:t>
            </a:r>
          </a:p>
          <a:p>
            <a:endParaRPr lang="en-US" b="1"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4 H Small</a:t>
            </a:r>
            <a:r>
              <a:rPr lang="en-US" sz="1800" dirty="0"/>
              <a:t> – For </a:t>
            </a:r>
            <a:r>
              <a:rPr lang="en-US" sz="1800" b="1" dirty="0"/>
              <a:t>natural language understanding, reasoning, and generating clear explanations of PMGSY classification results.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5787EE91-00D4-4733-8081-BB238E68354C}"/>
              </a:ext>
            </a:extLst>
          </p:cNvPr>
          <p:cNvPicPr>
            <a:picLocks noChangeAspect="1"/>
          </p:cNvPicPr>
          <p:nvPr/>
        </p:nvPicPr>
        <p:blipFill>
          <a:blip r:embed="rId3"/>
          <a:stretch>
            <a:fillRect/>
          </a:stretch>
        </p:blipFill>
        <p:spPr>
          <a:xfrm>
            <a:off x="837187" y="998432"/>
            <a:ext cx="10170941" cy="542202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4C54665E-34B5-E975-A809-81388B481E94}"/>
              </a:ext>
            </a:extLst>
          </p:cNvPr>
          <p:cNvPicPr>
            <a:picLocks noChangeAspect="1"/>
          </p:cNvPicPr>
          <p:nvPr/>
        </p:nvPicPr>
        <p:blipFill>
          <a:blip r:embed="rId3"/>
          <a:stretch>
            <a:fillRect/>
          </a:stretch>
        </p:blipFill>
        <p:spPr>
          <a:xfrm>
            <a:off x="1169096" y="1069975"/>
            <a:ext cx="9853808" cy="5245100"/>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312234-1F59-CB52-F4BA-DAE603B79667}"/>
              </a:ext>
            </a:extLst>
          </p:cNvPr>
          <p:cNvPicPr>
            <a:picLocks noChangeAspect="1"/>
          </p:cNvPicPr>
          <p:nvPr/>
        </p:nvPicPr>
        <p:blipFill>
          <a:blip r:embed="rId2"/>
          <a:stretch>
            <a:fillRect/>
          </a:stretch>
        </p:blipFill>
        <p:spPr>
          <a:xfrm>
            <a:off x="1171574" y="1013560"/>
            <a:ext cx="9991725" cy="5379756"/>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6697535D-EBF5-41DE-E93B-760133BF95C6}"/>
              </a:ext>
            </a:extLst>
          </p:cNvPr>
          <p:cNvPicPr>
            <a:picLocks noChangeAspect="1"/>
          </p:cNvPicPr>
          <p:nvPr/>
        </p:nvPicPr>
        <p:blipFill>
          <a:blip r:embed="rId3"/>
          <a:stretch>
            <a:fillRect/>
          </a:stretch>
        </p:blipFill>
        <p:spPr>
          <a:xfrm>
            <a:off x="537590" y="1081657"/>
            <a:ext cx="10550792" cy="4276002"/>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dirty="0"/>
              <a:t>Role of AI in the PMGSY Classification System</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2"/>
            <a:ext cx="10417683" cy="3108543"/>
          </a:xfrm>
          <a:prstGeom prst="rect">
            <a:avLst/>
          </a:prstGeom>
          <a:noFill/>
        </p:spPr>
        <p:txBody>
          <a:bodyPr wrap="square" rtlCol="0">
            <a:spAutoFit/>
          </a:bodyPr>
          <a:lstStyle/>
          <a:p>
            <a:endParaRPr lang="en-US" b="1" dirty="0"/>
          </a:p>
          <a:p>
            <a:r>
              <a:rPr lang="en-US" b="1" dirty="0"/>
              <a:t>AI-Powered Classification</a:t>
            </a:r>
          </a:p>
          <a:p>
            <a:br>
              <a:rPr lang="en-US" dirty="0"/>
            </a:br>
            <a:r>
              <a:rPr lang="en-US" dirty="0"/>
              <a:t>enables the PMGSY system to automatically analyze rural infrastructure project data and classify each project into the appropriate </a:t>
            </a:r>
            <a:r>
              <a:rPr lang="en-US" b="1" dirty="0"/>
              <a:t>PMGSY scheme</a:t>
            </a:r>
            <a:r>
              <a:rPr lang="en-US" dirty="0"/>
              <a:t>. The system uses a </a:t>
            </a:r>
            <a:r>
              <a:rPr lang="en-US" b="1" dirty="0"/>
              <a:t>Random Forest machine learning model</a:t>
            </a:r>
            <a:r>
              <a:rPr lang="en-US" dirty="0"/>
              <a:t> to identify patterns in project characteristics and predict the scheme.</a:t>
            </a:r>
          </a:p>
          <a:p>
            <a:r>
              <a:rPr lang="en-US" dirty="0"/>
              <a:t>The system analyzes key project attributes such as </a:t>
            </a:r>
            <a:r>
              <a:rPr lang="en-US" b="1" dirty="0"/>
              <a:t>road works, road length, bridges, sanctioned cost, expenditure, completed works, and balance works</a:t>
            </a:r>
            <a:r>
              <a:rPr lang="en-US" dirty="0"/>
              <a:t> to make the classification.</a:t>
            </a:r>
          </a:p>
          <a:p>
            <a:r>
              <a:rPr lang="en-US" b="1" dirty="0"/>
              <a:t>IBM Granite 4 H Small</a:t>
            </a:r>
            <a:r>
              <a:rPr lang="en-US" dirty="0"/>
              <a:t> is integrated as an AI explanation layer. After the Random Forest model predicts the scheme, Granite generates a </a:t>
            </a:r>
            <a:r>
              <a:rPr lang="en-US" b="1" dirty="0"/>
              <a:t>clear, natural-language explanation</a:t>
            </a:r>
            <a:r>
              <a:rPr lang="en-US" dirty="0"/>
              <a:t> of the prediction, helping users understand the classification result.</a:t>
            </a:r>
          </a:p>
          <a:p>
            <a:r>
              <a:rPr lang="en-US" dirty="0"/>
              <a:t>The system also provides </a:t>
            </a:r>
            <a:r>
              <a:rPr lang="en-US" b="1" dirty="0"/>
              <a:t>confidence/probability scores and model insights</a:t>
            </a:r>
            <a:r>
              <a:rPr lang="en-US" dirty="0"/>
              <a:t>, making the prediction more transparent and easier to interpret.</a:t>
            </a:r>
          </a:p>
          <a:p>
            <a:r>
              <a:rPr lang="en-US" dirty="0"/>
              <a:t>Overall, the AI-powered approach makes the system </a:t>
            </a:r>
            <a:r>
              <a:rPr lang="en-US" b="1" dirty="0"/>
              <a:t>automated, data-driven, scalable, and explainable</a:t>
            </a:r>
            <a:r>
              <a:rPr lang="en-US" dirty="0"/>
              <a:t>, reducing manual effort in PMGSY scheme classification and supporting better project analysis.</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E518662A-830B-DD5E-C4B7-8D16A9DD1546}"/>
              </a:ext>
            </a:extLst>
          </p:cNvPr>
          <p:cNvPicPr>
            <a:picLocks noChangeAspect="1"/>
          </p:cNvPicPr>
          <p:nvPr/>
        </p:nvPicPr>
        <p:blipFill>
          <a:blip r:embed="rId3"/>
          <a:stretch>
            <a:fillRect/>
          </a:stretch>
        </p:blipFill>
        <p:spPr>
          <a:xfrm>
            <a:off x="6981887" y="2337251"/>
            <a:ext cx="4235685" cy="3834949"/>
          </a:xfrm>
          <a:prstGeom prst="rect">
            <a:avLst/>
          </a:prstGeom>
        </p:spPr>
      </p:pic>
      <p:pic>
        <p:nvPicPr>
          <p:cNvPr id="6" name="Picture 5">
            <a:extLst>
              <a:ext uri="{FF2B5EF4-FFF2-40B4-BE49-F238E27FC236}">
                <a16:creationId xmlns:a16="http://schemas.microsoft.com/office/drawing/2014/main" id="{0239B28B-DFD7-0315-DA1A-5E9F61A49A19}"/>
              </a:ext>
            </a:extLst>
          </p:cNvPr>
          <p:cNvPicPr>
            <a:picLocks noChangeAspect="1"/>
          </p:cNvPicPr>
          <p:nvPr/>
        </p:nvPicPr>
        <p:blipFill>
          <a:blip r:embed="rId4"/>
          <a:srcRect r="50000"/>
          <a:stretch>
            <a:fillRect/>
          </a:stretch>
        </p:blipFill>
        <p:spPr>
          <a:xfrm>
            <a:off x="580519" y="2237958"/>
            <a:ext cx="4629595" cy="3957637"/>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7" name="Picture 6">
            <a:extLst>
              <a:ext uri="{FF2B5EF4-FFF2-40B4-BE49-F238E27FC236}">
                <a16:creationId xmlns:a16="http://schemas.microsoft.com/office/drawing/2014/main" id="{3D583DAE-4220-AD6A-0264-DF083B02D02F}"/>
              </a:ext>
            </a:extLst>
          </p:cNvPr>
          <p:cNvPicPr>
            <a:picLocks noChangeAspect="1"/>
          </p:cNvPicPr>
          <p:nvPr/>
        </p:nvPicPr>
        <p:blipFill>
          <a:blip r:embed="rId3"/>
          <a:stretch>
            <a:fillRect/>
          </a:stretch>
        </p:blipFill>
        <p:spPr>
          <a:xfrm>
            <a:off x="1218724" y="1023104"/>
            <a:ext cx="9267825" cy="4228200"/>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DC535-6338-6990-948C-EA82CDD46DC0}"/>
              </a:ext>
            </a:extLst>
          </p:cNvPr>
          <p:cNvSpPr>
            <a:spLocks noGrp="1"/>
          </p:cNvSpPr>
          <p:nvPr>
            <p:ph type="title"/>
          </p:nvPr>
        </p:nvSpPr>
        <p:spPr>
          <a:xfrm>
            <a:off x="193675" y="290513"/>
            <a:ext cx="10515600" cy="558799"/>
          </a:xfrm>
        </p:spPr>
        <p:txBody>
          <a:bodyPr>
            <a:normAutofit fontScale="90000"/>
          </a:bodyPr>
          <a:lstStyle/>
          <a:p>
            <a:pPr>
              <a:lnSpc>
                <a:spcPct val="157142"/>
              </a:lnSpc>
              <a:buClr>
                <a:srgbClr val="051D3A"/>
              </a:buClr>
              <a:buSzPts val="3500"/>
            </a:pPr>
            <a:r>
              <a:rPr lang="en-US" sz="2400" b="1" dirty="0">
                <a:latin typeface="+mj-lt"/>
                <a:sym typeface="Times New Roman"/>
              </a:rPr>
              <a:t> Project Output Screenshot</a:t>
            </a:r>
          </a:p>
        </p:txBody>
      </p:sp>
      <p:sp>
        <p:nvSpPr>
          <p:cNvPr id="3" name="Text Placeholder 2">
            <a:extLst>
              <a:ext uri="{FF2B5EF4-FFF2-40B4-BE49-F238E27FC236}">
                <a16:creationId xmlns:a16="http://schemas.microsoft.com/office/drawing/2014/main" id="{F18995D5-9CE8-9FBF-C957-41026B7DC239}"/>
              </a:ext>
            </a:extLst>
          </p:cNvPr>
          <p:cNvSpPr>
            <a:spLocks noGrp="1"/>
          </p:cNvSpPr>
          <p:nvPr>
            <p:ph type="body" idx="1"/>
          </p:nvPr>
        </p:nvSpPr>
        <p:spPr>
          <a:xfrm>
            <a:off x="831850" y="4589463"/>
            <a:ext cx="9721850" cy="1500187"/>
          </a:xfrm>
        </p:spPr>
        <p:txBody>
          <a:bodyPr/>
          <a:lstStyle/>
          <a:p>
            <a:endParaRPr lang="en-IN" dirty="0"/>
          </a:p>
        </p:txBody>
      </p:sp>
      <p:pic>
        <p:nvPicPr>
          <p:cNvPr id="5" name="Picture 4">
            <a:extLst>
              <a:ext uri="{FF2B5EF4-FFF2-40B4-BE49-F238E27FC236}">
                <a16:creationId xmlns:a16="http://schemas.microsoft.com/office/drawing/2014/main" id="{82C52273-4A70-20A2-A35E-9A947CC31693}"/>
              </a:ext>
            </a:extLst>
          </p:cNvPr>
          <p:cNvPicPr>
            <a:picLocks noChangeAspect="1"/>
          </p:cNvPicPr>
          <p:nvPr/>
        </p:nvPicPr>
        <p:blipFill>
          <a:blip r:embed="rId2"/>
          <a:stretch>
            <a:fillRect/>
          </a:stretch>
        </p:blipFill>
        <p:spPr>
          <a:xfrm>
            <a:off x="706390" y="1254803"/>
            <a:ext cx="10653760" cy="4965022"/>
          </a:xfrm>
          <a:prstGeom prst="rect">
            <a:avLst/>
          </a:prstGeom>
        </p:spPr>
      </p:pic>
    </p:spTree>
    <p:extLst>
      <p:ext uri="{BB962C8B-B14F-4D97-AF65-F5344CB8AC3E}">
        <p14:creationId xmlns:p14="http://schemas.microsoft.com/office/powerpoint/2010/main" val="1477068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C499A308-703F-87F8-18EF-545416B1683D}"/>
              </a:ext>
            </a:extLst>
          </p:cNvPr>
          <p:cNvPicPr>
            <a:picLocks noChangeAspect="1"/>
          </p:cNvPicPr>
          <p:nvPr/>
        </p:nvPicPr>
        <p:blipFill>
          <a:blip r:embed="rId3"/>
          <a:stretch>
            <a:fillRect/>
          </a:stretch>
        </p:blipFill>
        <p:spPr>
          <a:xfrm>
            <a:off x="904875" y="1044263"/>
            <a:ext cx="10248900" cy="5162891"/>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97F2DEF1-8964-7C13-551F-618E9D2FEEC5}"/>
              </a:ext>
            </a:extLst>
          </p:cNvPr>
          <p:cNvPicPr>
            <a:picLocks noChangeAspect="1"/>
          </p:cNvPicPr>
          <p:nvPr/>
        </p:nvPicPr>
        <p:blipFill>
          <a:blip r:embed="rId3"/>
          <a:stretch>
            <a:fillRect/>
          </a:stretch>
        </p:blipFill>
        <p:spPr>
          <a:xfrm>
            <a:off x="831612" y="1044263"/>
            <a:ext cx="10025364" cy="5192906"/>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016758"/>
          </a:xfrm>
          <a:prstGeom prst="rect">
            <a:avLst/>
          </a:prstGeom>
          <a:noFill/>
        </p:spPr>
        <p:txBody>
          <a:bodyPr wrap="square" rtlCol="0">
            <a:spAutoFit/>
          </a:bodyPr>
          <a:lstStyle/>
          <a:p>
            <a:r>
              <a:rPr lang="en-US" sz="1800" dirty="0"/>
              <a:t>The proposed </a:t>
            </a:r>
            <a:r>
              <a:rPr lang="en-US" sz="1800" b="1" dirty="0"/>
              <a:t>PMGSY Intelligent Classification System</a:t>
            </a:r>
            <a:r>
              <a:rPr lang="en-US" sz="1800" dirty="0"/>
              <a:t> stands out by combining </a:t>
            </a:r>
            <a:r>
              <a:rPr lang="en-US" sz="1800" b="1" dirty="0"/>
              <a:t>Machine Learning, IBM Granite, and automated project analysis</a:t>
            </a:r>
            <a:r>
              <a:rPr lang="en-US" sz="1800" dirty="0"/>
              <a:t> into a single intelligent classification solution.</a:t>
            </a:r>
          </a:p>
          <a:p>
            <a:endParaRPr lang="en-US" sz="1800" dirty="0"/>
          </a:p>
          <a:p>
            <a:pPr marL="285750" indent="-285750">
              <a:buFont typeface="Arial" panose="020B0604020202020204" pitchFamily="34" charset="0"/>
              <a:buChar char="•"/>
            </a:pPr>
            <a:r>
              <a:rPr lang="en-US" sz="1800" b="1" dirty="0"/>
              <a:t>Automated Scheme Classification</a:t>
            </a:r>
            <a:r>
              <a:rPr lang="en-US" sz="1800" dirty="0"/>
              <a:t> – Uses a </a:t>
            </a:r>
            <a:r>
              <a:rPr lang="en-US" sz="1800" b="1" dirty="0"/>
              <a:t>Random Forest classifier</a:t>
            </a:r>
            <a:r>
              <a:rPr lang="en-US" sz="1800" dirty="0"/>
              <a:t> to automatically classify rural infrastructure projects into PMGSY-I, PMGSY-II, PMGSY-III, RCPLWEA, or PM-JANMAN.</a:t>
            </a:r>
          </a:p>
          <a:p>
            <a:pPr marL="285750" indent="-285750">
              <a:buFont typeface="Arial" panose="020B0604020202020204" pitchFamily="34" charset="0"/>
              <a:buChar char="•"/>
            </a:pPr>
            <a:r>
              <a:rPr lang="en-US" sz="1800" b="1" dirty="0"/>
              <a:t>Data-Driven Prediction</a:t>
            </a:r>
            <a:r>
              <a:rPr lang="en-US" sz="1800" dirty="0"/>
              <a:t> – Analyzes project characteristics such as </a:t>
            </a:r>
            <a:r>
              <a:rPr lang="en-US" sz="1800" b="1" dirty="0"/>
              <a:t>road works, road length, bridges, sanctioned cost, expenditure, completed works, and balance works</a:t>
            </a:r>
            <a:r>
              <a:rPr lang="en-US" sz="1800" dirty="0"/>
              <a:t> to identify classification patterns.</a:t>
            </a:r>
          </a:p>
          <a:p>
            <a:pPr marL="285750" indent="-285750">
              <a:buFont typeface="Arial" panose="020B0604020202020204" pitchFamily="34" charset="0"/>
              <a:buChar char="•"/>
            </a:pPr>
            <a:r>
              <a:rPr lang="en-US" sz="1800" b="1" dirty="0"/>
              <a:t>AI-Powered Explanation</a:t>
            </a:r>
            <a:r>
              <a:rPr lang="en-US" sz="1800" dirty="0"/>
              <a:t> – Uses </a:t>
            </a:r>
            <a:r>
              <a:rPr lang="en-US" sz="1800" b="1" dirty="0"/>
              <a:t>IBM Granite 4 H Small</a:t>
            </a:r>
            <a:r>
              <a:rPr lang="en-US" sz="1800" dirty="0"/>
              <a:t> to generate clear, natural-language explanations for the predicted PMGSY scheme.</a:t>
            </a:r>
          </a:p>
          <a:p>
            <a:pPr marL="285750" indent="-285750">
              <a:buFont typeface="Arial" panose="020B0604020202020204" pitchFamily="34" charset="0"/>
              <a:buChar char="•"/>
            </a:pPr>
            <a:r>
              <a:rPr lang="en-US" sz="1800" b="1" dirty="0"/>
              <a:t>Transparent Predictions</a:t>
            </a:r>
            <a:r>
              <a:rPr lang="en-US" sz="1800" dirty="0"/>
              <a:t> – Provides </a:t>
            </a:r>
            <a:r>
              <a:rPr lang="en-US" sz="1800" b="1" dirty="0"/>
              <a:t>confidence/probability scores</a:t>
            </a:r>
            <a:r>
              <a:rPr lang="en-US" sz="1800" dirty="0"/>
              <a:t> along with the predicted scheme, making the ML decision easier to understand.</a:t>
            </a:r>
          </a:p>
          <a:p>
            <a:pPr marL="285750" indent="-285750">
              <a:buFont typeface="Arial" panose="020B0604020202020204" pitchFamily="34" charset="0"/>
              <a:buChar char="•"/>
            </a:pPr>
            <a:r>
              <a:rPr lang="en-US" sz="1800" b="1" dirty="0"/>
              <a:t>End-to-End Automation</a:t>
            </a:r>
            <a:r>
              <a:rPr lang="en-US" sz="1800" dirty="0"/>
              <a:t> – Integrates the </a:t>
            </a:r>
            <a:r>
              <a:rPr lang="en-US" sz="1800" b="1" dirty="0"/>
              <a:t>ML model, Flask backend, web interface, and Granite</a:t>
            </a:r>
            <a:r>
              <a:rPr lang="en-US" sz="1800" dirty="0"/>
              <a:t> into one complete workflow, reducing manual classification effort.</a:t>
            </a:r>
          </a:p>
          <a:p>
            <a:pPr marL="285750" indent="-285750">
              <a:buFont typeface="Arial" panose="020B0604020202020204" pitchFamily="34" charset="0"/>
              <a:buChar char="•"/>
            </a:pPr>
            <a:r>
              <a:rPr lang="en-US" sz="1800" b="1" dirty="0"/>
              <a:t>Scalable Solution</a:t>
            </a:r>
            <a:r>
              <a:rPr lang="en-US" sz="1800" dirty="0"/>
              <a:t> – Can process large numbers of rural infrastructure projects and provide consistent scheme classification.</a:t>
            </a:r>
          </a:p>
          <a:p>
            <a:pPr marL="285750" indent="-285750">
              <a:buFont typeface="Arial" panose="020B0604020202020204" pitchFamily="34" charset="0"/>
              <a:buChar char="•"/>
            </a:pPr>
            <a:r>
              <a:rPr lang="en-US" sz="1800" dirty="0"/>
              <a:t>Overall, the solution provides a </a:t>
            </a:r>
            <a:r>
              <a:rPr lang="en-US" sz="1800" b="1" dirty="0"/>
              <a:t>smart, automated, data-driven, and explainable PMGSY classification system</a:t>
            </a:r>
            <a:r>
              <a:rPr lang="en-US" sz="1800" dirty="0"/>
              <a:t>, rather than relying on manual scheme identification.</a:t>
            </a:r>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endParaRPr lang="en-IN" sz="1850" dirty="0">
              <a:latin typeface="Times New Roman"/>
              <a:ea typeface="Times New Roman"/>
              <a:cs typeface="Times New Roman"/>
              <a:sym typeface="Times New Roman"/>
            </a:endParaRPr>
          </a:p>
          <a:p>
            <a:pPr lvl="0">
              <a:lnSpc>
                <a:spcPct val="162162"/>
              </a:lnSpc>
              <a:buClr>
                <a:srgbClr val="2B3541"/>
              </a:buClr>
              <a:buSzPts val="1850"/>
            </a:pPr>
            <a:r>
              <a:rPr lang="en-IN" sz="1850" dirty="0">
                <a:latin typeface="Times New Roman"/>
                <a:ea typeface="Times New Roman"/>
                <a:cs typeface="Times New Roman"/>
                <a:sym typeface="Times New Roman"/>
              </a:rPr>
              <a:t>https://github.com/Karthikeyanmatesh/pmgsy-intelligent-classifier</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457200" indent="-457200">
              <a:buAutoNum type="arabicPeriod"/>
            </a:pPr>
            <a:r>
              <a:rPr lang="en-US" sz="2000" b="1" dirty="0"/>
              <a:t>Integration with Real-Time PMGSY Data </a:t>
            </a:r>
            <a:endParaRPr lang="en-US" sz="2000" dirty="0"/>
          </a:p>
          <a:p>
            <a:pPr algn="just"/>
            <a:r>
              <a:rPr lang="en-US" sz="2000" dirty="0"/>
              <a:t>The system can be integrated with updated government and PMGSY datasets to collect real-time information such as project progress, expenditure, road completion, and bridge status. This will enable the system to provide more accurate and up-to-date scheme classification and project analysis.</a:t>
            </a:r>
          </a:p>
          <a:p>
            <a:endParaRPr lang="en-US" sz="2000" dirty="0"/>
          </a:p>
          <a:p>
            <a:r>
              <a:rPr lang="en-US" sz="2000" b="1" dirty="0"/>
              <a:t>2. AI-Powered Multilingual Support </a:t>
            </a:r>
            <a:endParaRPr lang="en-US" sz="2000" dirty="0"/>
          </a:p>
          <a:p>
            <a:pPr algn="just"/>
            <a:r>
              <a:rPr lang="en-US" sz="2000" dirty="0"/>
              <a:t>Enhancing the system with multilingual AI support will improve accessibility for government officials and users across different regions. IBM Granite can be extended to generate classification explanations in regional Indian languages, making the solution more inclusive and easier to understand.</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Getting Started with Artificial Intelligence  </a:t>
            </a:r>
          </a:p>
        </p:txBody>
      </p:sp>
      <p:pic>
        <p:nvPicPr>
          <p:cNvPr id="10" name="Picture 9">
            <a:extLst>
              <a:ext uri="{FF2B5EF4-FFF2-40B4-BE49-F238E27FC236}">
                <a16:creationId xmlns:a16="http://schemas.microsoft.com/office/drawing/2014/main" id="{7ADC2C38-AED9-112E-4847-BC4D9E747D94}"/>
              </a:ext>
            </a:extLst>
          </p:cNvPr>
          <p:cNvPicPr>
            <a:picLocks noChangeAspect="1"/>
          </p:cNvPicPr>
          <p:nvPr/>
        </p:nvPicPr>
        <p:blipFill>
          <a:blip r:embed="rId2"/>
          <a:stretch>
            <a:fillRect/>
          </a:stretch>
        </p:blipFill>
        <p:spPr>
          <a:xfrm>
            <a:off x="2544284" y="1367169"/>
            <a:ext cx="7103431" cy="4903737"/>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8C643-7F50-4ABA-6D2B-EA53B6D32DB5}"/>
              </a:ext>
            </a:extLst>
          </p:cNvPr>
          <p:cNvSpPr>
            <a:spLocks noGrp="1"/>
          </p:cNvSpPr>
          <p:nvPr>
            <p:ph type="title"/>
          </p:nvPr>
        </p:nvSpPr>
        <p:spPr>
          <a:xfrm>
            <a:off x="231775" y="209551"/>
            <a:ext cx="10515600" cy="671512"/>
          </a:xfrm>
        </p:spPr>
        <p:txBody>
          <a:bodyPr>
            <a:normAutofit fontScale="90000"/>
          </a:bodyPr>
          <a:lstStyle/>
          <a:p>
            <a:r>
              <a:rPr lang="en-IN" sz="2400" b="1" dirty="0">
                <a:latin typeface="+mj-lt"/>
              </a:rPr>
              <a:t>Getting Started with Cybersecurity</a:t>
            </a:r>
            <a:br>
              <a:rPr lang="en-IN" sz="2000" dirty="0">
                <a:latin typeface="+mj-lt"/>
              </a:rPr>
            </a:br>
            <a:endParaRPr lang="en-IN" sz="2000" dirty="0">
              <a:latin typeface="+mj-lt"/>
            </a:endParaRPr>
          </a:p>
        </p:txBody>
      </p:sp>
      <p:sp>
        <p:nvSpPr>
          <p:cNvPr id="3" name="Text Placeholder 2">
            <a:extLst>
              <a:ext uri="{FF2B5EF4-FFF2-40B4-BE49-F238E27FC236}">
                <a16:creationId xmlns:a16="http://schemas.microsoft.com/office/drawing/2014/main" id="{24645100-6544-83C1-D7D2-872ECC68BDFF}"/>
              </a:ext>
            </a:extLst>
          </p:cNvPr>
          <p:cNvSpPr>
            <a:spLocks noGrp="1"/>
          </p:cNvSpPr>
          <p:nvPr>
            <p:ph type="body" idx="1"/>
          </p:nvPr>
        </p:nvSpPr>
        <p:spPr>
          <a:xfrm>
            <a:off x="2924175" y="4589463"/>
            <a:ext cx="6305550" cy="1500187"/>
          </a:xfrm>
        </p:spPr>
        <p:txBody>
          <a:bodyPr/>
          <a:lstStyle/>
          <a:p>
            <a:endParaRPr lang="en-IN" b="1" dirty="0"/>
          </a:p>
        </p:txBody>
      </p:sp>
      <p:pic>
        <p:nvPicPr>
          <p:cNvPr id="5" name="Picture 4">
            <a:extLst>
              <a:ext uri="{FF2B5EF4-FFF2-40B4-BE49-F238E27FC236}">
                <a16:creationId xmlns:a16="http://schemas.microsoft.com/office/drawing/2014/main" id="{8FCE3A4D-2714-50E4-5CC8-37E1D60121EF}"/>
              </a:ext>
            </a:extLst>
          </p:cNvPr>
          <p:cNvPicPr>
            <a:picLocks noChangeAspect="1"/>
          </p:cNvPicPr>
          <p:nvPr/>
        </p:nvPicPr>
        <p:blipFill>
          <a:blip r:embed="rId2"/>
          <a:stretch>
            <a:fillRect/>
          </a:stretch>
        </p:blipFill>
        <p:spPr>
          <a:xfrm>
            <a:off x="2542822" y="1266559"/>
            <a:ext cx="6915503" cy="5202785"/>
          </a:xfrm>
          <a:prstGeom prst="rect">
            <a:avLst/>
          </a:prstGeom>
        </p:spPr>
      </p:pic>
    </p:spTree>
    <p:extLst>
      <p:ext uri="{BB962C8B-B14F-4D97-AF65-F5344CB8AC3E}">
        <p14:creationId xmlns:p14="http://schemas.microsoft.com/office/powerpoint/2010/main" val="863257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F0C7C-68BA-A843-A899-2F0DA55C5F87}"/>
              </a:ext>
            </a:extLst>
          </p:cNvPr>
          <p:cNvSpPr>
            <a:spLocks noGrp="1"/>
          </p:cNvSpPr>
          <p:nvPr>
            <p:ph type="title"/>
          </p:nvPr>
        </p:nvSpPr>
        <p:spPr>
          <a:xfrm>
            <a:off x="269875" y="390526"/>
            <a:ext cx="10515600" cy="558799"/>
          </a:xfrm>
        </p:spPr>
        <p:txBody>
          <a:bodyPr>
            <a:normAutofit/>
          </a:bodyPr>
          <a:lstStyle/>
          <a:p>
            <a:r>
              <a:rPr lang="en-IN" sz="2400" dirty="0"/>
              <a:t>Level up with cybersecurity with generative ai</a:t>
            </a:r>
          </a:p>
        </p:txBody>
      </p:sp>
      <p:sp>
        <p:nvSpPr>
          <p:cNvPr id="3" name="Text Placeholder 2">
            <a:extLst>
              <a:ext uri="{FF2B5EF4-FFF2-40B4-BE49-F238E27FC236}">
                <a16:creationId xmlns:a16="http://schemas.microsoft.com/office/drawing/2014/main" id="{5EE82DDF-75AF-4529-75F2-DBAFC798FB91}"/>
              </a:ext>
            </a:extLst>
          </p:cNvPr>
          <p:cNvSpPr>
            <a:spLocks noGrp="1"/>
          </p:cNvSpPr>
          <p:nvPr>
            <p:ph type="body" idx="1"/>
          </p:nvPr>
        </p:nvSpPr>
        <p:spPr>
          <a:xfrm>
            <a:off x="2628900" y="4589464"/>
            <a:ext cx="7019925" cy="1192212"/>
          </a:xfrm>
        </p:spPr>
        <p:txBody>
          <a:bodyPr/>
          <a:lstStyle/>
          <a:p>
            <a:endParaRPr lang="en-IN" dirty="0"/>
          </a:p>
        </p:txBody>
      </p:sp>
      <p:pic>
        <p:nvPicPr>
          <p:cNvPr id="5" name="Picture 4">
            <a:extLst>
              <a:ext uri="{FF2B5EF4-FFF2-40B4-BE49-F238E27FC236}">
                <a16:creationId xmlns:a16="http://schemas.microsoft.com/office/drawing/2014/main" id="{D304D8B8-81C7-BCD5-C574-C4B26873FBAD}"/>
              </a:ext>
            </a:extLst>
          </p:cNvPr>
          <p:cNvPicPr>
            <a:picLocks noChangeAspect="1"/>
          </p:cNvPicPr>
          <p:nvPr/>
        </p:nvPicPr>
        <p:blipFill>
          <a:blip r:embed="rId2"/>
          <a:stretch>
            <a:fillRect/>
          </a:stretch>
        </p:blipFill>
        <p:spPr>
          <a:xfrm>
            <a:off x="2262287" y="1290212"/>
            <a:ext cx="7654726" cy="4799438"/>
          </a:xfrm>
          <a:prstGeom prst="rect">
            <a:avLst/>
          </a:prstGeom>
        </p:spPr>
      </p:pic>
    </p:spTree>
    <p:extLst>
      <p:ext uri="{BB962C8B-B14F-4D97-AF65-F5344CB8AC3E}">
        <p14:creationId xmlns:p14="http://schemas.microsoft.com/office/powerpoint/2010/main" val="25641343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p>
          <a:p>
            <a:pPr algn="ctr"/>
            <a:endParaRPr lang="en-US" dirty="0"/>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Troubleshoot your code using </a:t>
            </a:r>
            <a:r>
              <a:rPr lang="en-US" sz="2000" b="1" dirty="0" err="1"/>
              <a:t>Ibm</a:t>
            </a:r>
            <a:r>
              <a:rPr lang="en-US" sz="2000" b="1" dirty="0"/>
              <a:t> Bob</a:t>
            </a:r>
          </a:p>
        </p:txBody>
      </p:sp>
      <p:pic>
        <p:nvPicPr>
          <p:cNvPr id="3" name="Picture 2">
            <a:extLst>
              <a:ext uri="{FF2B5EF4-FFF2-40B4-BE49-F238E27FC236}">
                <a16:creationId xmlns:a16="http://schemas.microsoft.com/office/drawing/2014/main" id="{1746AF53-DCF7-02F4-00CF-63214AE346AF}"/>
              </a:ext>
            </a:extLst>
          </p:cNvPr>
          <p:cNvPicPr>
            <a:picLocks noChangeAspect="1"/>
          </p:cNvPicPr>
          <p:nvPr/>
        </p:nvPicPr>
        <p:blipFill>
          <a:blip r:embed="rId2"/>
          <a:stretch>
            <a:fillRect/>
          </a:stretch>
        </p:blipFill>
        <p:spPr>
          <a:xfrm>
            <a:off x="1795977" y="1477578"/>
            <a:ext cx="7852848" cy="4909510"/>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250</TotalTime>
  <Words>1345</Words>
  <Application>Microsoft Office PowerPoint</Application>
  <PresentationFormat>Widescreen</PresentationFormat>
  <Paragraphs>113</Paragraphs>
  <Slides>23</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Project Output Screenshot</vt:lpstr>
      <vt:lpstr>PowerPoint Presentation</vt:lpstr>
      <vt:lpstr>PowerPoint Presentation</vt:lpstr>
      <vt:lpstr>PowerPoint Presentation</vt:lpstr>
      <vt:lpstr>PowerPoint Presentation</vt:lpstr>
      <vt:lpstr>PowerPoint Presentation</vt:lpstr>
      <vt:lpstr>PowerPoint Presentation</vt:lpstr>
      <vt:lpstr>Getting Started with Cybersecurity </vt:lpstr>
      <vt:lpstr>Level up with cybersecurity with generative ai</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Murali Prasath</cp:lastModifiedBy>
  <cp:revision>5</cp:revision>
  <dcterms:created xsi:type="dcterms:W3CDTF">2025-07-08T05:06:56Z</dcterms:created>
  <dcterms:modified xsi:type="dcterms:W3CDTF">2026-09-08T04:18:27Z</dcterms:modified>
</cp:coreProperties>
</file>